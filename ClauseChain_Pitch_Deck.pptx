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8" d="100"/>
          <a:sy n="128" d="100"/>
        </p:scale>
        <p:origin x="48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232798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30ED1D4-57C3-569F-00BB-323097F5E0B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5000"/>
          </a:blip>
          <a:srcRect b="11712"/>
          <a:stretch>
            <a:fillRect/>
          </a:stretch>
        </p:blipFill>
        <p:spPr>
          <a:xfrm>
            <a:off x="2173507" y="111062"/>
            <a:ext cx="8024041" cy="674693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F32844C-78E5-372B-96C8-A9412D349AA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b="12676"/>
          <a:stretch>
            <a:fillRect/>
          </a:stretch>
        </p:blipFill>
        <p:spPr>
          <a:xfrm>
            <a:off x="11699055" y="6420678"/>
            <a:ext cx="394381" cy="32799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ark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640080" y="6400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ESCAP REGTECH AI HACKATHON 2026 · RDTII 2.1 · PILLARS 6 &amp; 7</a:t>
            </a:r>
            <a:endParaRPr lang="en-US" sz="1300" dirty="0">
              <a:solidFill>
                <a:schemeClr val="accent4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600" b="1" dirty="0">
                <a:solidFill>
                  <a:srgbClr val="FFFFFF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ClauseChain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640080" y="251460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reproducible proof for every exported legal row.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79" y="3566160"/>
            <a:ext cx="10750163" cy="2377440"/>
          </a:xfrm>
          <a:prstGeom prst="roundRect">
            <a:avLst>
              <a:gd name="adj" fmla="val 3077"/>
            </a:avLst>
          </a:prstGeom>
          <a:solidFill>
            <a:srgbClr val="16395C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37947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kern="0" spc="1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zAI BD — BANGLADESH</a:t>
            </a: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14399" y="4160520"/>
            <a:ext cx="10018643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Abu Naser Md. Nafew</a:t>
            </a: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Team Lead, Full-stack &amp; AI Engineering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Md.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Insaful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Rahman Tusar</a:t>
            </a: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Independent Legal Consultant, Legal Review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Punam Chowdhury</a:t>
            </a: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 Engineer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Saniul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Basir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Saz</a:t>
            </a: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 Engineer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Farhana Borsha</a:t>
            </a: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UI/UX Designer</a:t>
            </a:r>
            <a:endParaRPr lang="en-US" sz="1600" dirty="0"/>
          </a:p>
        </p:txBody>
      </p:sp>
      <p:sp>
        <p:nvSpPr>
          <p:cNvPr id="9" name="Rounded Rectangle 8"/>
          <p:cNvSpPr/>
          <p:nvPr/>
        </p:nvSpPr>
        <p:spPr>
          <a:xfrm>
            <a:off x="9290101" y="73152"/>
            <a:ext cx="2828747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escap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117" y="146304"/>
            <a:ext cx="995148" cy="310896"/>
          </a:xfrm>
          <a:prstGeom prst="rect">
            <a:avLst/>
          </a:prstGeom>
        </p:spPr>
      </p:pic>
      <p:pic>
        <p:nvPicPr>
          <p:cNvPr id="11" name="Picture 10" descr="cc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77856" y="173736"/>
            <a:ext cx="1412977" cy="256032"/>
          </a:xfrm>
          <a:prstGeom prst="rect">
            <a:avLst/>
          </a:prstGeom>
        </p:spPr>
      </p:pic>
      <p:pic>
        <p:nvPicPr>
          <p:cNvPr id="12" name="Picture 11" descr="cc_logo.png">
            <a:extLst>
              <a:ext uri="{FF2B5EF4-FFF2-40B4-BE49-F238E27FC236}">
                <a16:creationId xmlns:a16="http://schemas.microsoft.com/office/drawing/2014/main" id="{6E7F55FF-8BBC-B3B6-3B79-A2036C657F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38836" y="6493245"/>
            <a:ext cx="1502811" cy="27231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SLIDE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2A47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Executive Summary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64240" cy="1133856"/>
          </a:xfrm>
          <a:prstGeom prst="roundRect">
            <a:avLst>
              <a:gd name="adj" fmla="val 6452"/>
            </a:avLst>
          </a:prstGeom>
          <a:solidFill>
            <a:srgbClr val="EDF5FC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798982"/>
            <a:ext cx="1600200" cy="64246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468880" y="1508760"/>
            <a:ext cx="8961120" cy="969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autonomous legal-evidence engine that turns official statute portals, gazette PDFs and treaty texts into RDTII 2.1 indicator evidence — every row carrying a byte-exact verbatim snippet, pinpoint citation, archived source and a verification receipt.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697480"/>
            <a:ext cx="11064240" cy="1133856"/>
          </a:xfrm>
          <a:prstGeom prst="roundRect">
            <a:avLst>
              <a:gd name="adj" fmla="val 6452"/>
            </a:avLst>
          </a:prstGeom>
          <a:solidFill>
            <a:srgbClr val="EDF5FC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3101008"/>
            <a:ext cx="1600200" cy="62059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468880" y="2788920"/>
            <a:ext cx="8961120" cy="969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RDTII evidence collection is manual, slow and fragile: scattered portals, anti-bot walls, scanned gazettes, bilingual statutes, dead links, and citation errors that are expensive for lawyers to catch.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977640"/>
            <a:ext cx="11064240" cy="1133856"/>
          </a:xfrm>
          <a:prstGeom prst="roundRect">
            <a:avLst>
              <a:gd name="adj" fmla="val 6452"/>
            </a:avLst>
          </a:prstGeom>
          <a:solidFill>
            <a:srgbClr val="EDF5FC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4234864"/>
            <a:ext cx="1600200" cy="766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TECH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468880" y="4069080"/>
            <a:ext cx="8961120" cy="969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Format-based extractors (HTML / PDF / EPUB / OCR) → statute-structure RuleUnit graph (SQLite / Neo4j) → hybrid retrieval (exact-phrase + BM25 + dense) → LLM mapping with rubric-as-code → 9 deterministic gates → adversarial refuter → named human review → deterministic replay.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5257800"/>
            <a:ext cx="11064240" cy="1133856"/>
          </a:xfrm>
          <a:prstGeom prst="roundRect">
            <a:avLst>
              <a:gd name="adj" fmla="val 6452"/>
            </a:avLst>
          </a:prstGeom>
          <a:solidFill>
            <a:srgbClr val="EDF5FC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5645426"/>
            <a:ext cx="1600200" cy="6365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P6 &amp; P7 FIT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468880" y="5349240"/>
            <a:ext cx="8961120" cy="969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rubric is encoded as data (YAML), not code: indicator polarity, 0.5 tiers, the 7.5 court-order test, and 6.5 treaty evidence all flow through one generic pipeline — the same design that scales to the 8 finals economies.</a:t>
            </a:r>
            <a:endParaRPr lang="en-US" sz="1250" dirty="0"/>
          </a:p>
        </p:txBody>
      </p:sp>
      <p:pic>
        <p:nvPicPr>
          <p:cNvPr id="16" name="Picture 15" descr="escap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117" y="146304"/>
            <a:ext cx="995148" cy="310896"/>
          </a:xfrm>
          <a:prstGeom prst="rect">
            <a:avLst/>
          </a:prstGeom>
        </p:spPr>
      </p:pic>
      <p:pic>
        <p:nvPicPr>
          <p:cNvPr id="17" name="Picture 16" descr="cc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77856" y="173736"/>
            <a:ext cx="1412977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IS HARD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2A47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Problem Statement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40680" cy="1572768"/>
          </a:xfrm>
          <a:prstGeom prst="roundRect">
            <a:avLst>
              <a:gd name="adj" fmla="val 4651"/>
            </a:avLst>
          </a:prstGeom>
          <a:solidFill>
            <a:srgbClr val="EDF5FC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664208"/>
            <a:ext cx="384048" cy="384048"/>
          </a:xfrm>
          <a:prstGeom prst="ellipse">
            <a:avLst/>
          </a:prstGeom>
          <a:solidFill>
            <a:srgbClr val="1D6FB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80160" y="1591056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Fragmented sources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280160" y="1938528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lives across statute portals, regulator PDFs, gazettes and treaty registers — each with its own markup, structure and access rules.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72200" y="1463040"/>
            <a:ext cx="5440680" cy="1572768"/>
          </a:xfrm>
          <a:prstGeom prst="roundRect">
            <a:avLst>
              <a:gd name="adj" fmla="val 4651"/>
            </a:avLst>
          </a:prstGeom>
          <a:solidFill>
            <a:srgbClr val="EDF5FC"/>
          </a:solidFill>
          <a:ln/>
        </p:spPr>
      </p:sp>
      <p:sp>
        <p:nvSpPr>
          <p:cNvPr id="10" name="Shape 8"/>
          <p:cNvSpPr/>
          <p:nvPr/>
        </p:nvSpPr>
        <p:spPr>
          <a:xfrm>
            <a:off x="6373368" y="1664208"/>
            <a:ext cx="384048" cy="384048"/>
          </a:xfrm>
          <a:prstGeom prst="ellipse">
            <a:avLst/>
          </a:prstGeom>
          <a:solidFill>
            <a:srgbClr val="1D6FB8"/>
          </a:solidFill>
          <a:ln/>
        </p:spPr>
      </p:sp>
      <p:sp>
        <p:nvSpPr>
          <p:cNvPr id="11" name="Text 9"/>
          <p:cNvSpPr/>
          <p:nvPr/>
        </p:nvSpPr>
        <p:spPr>
          <a:xfrm>
            <a:off x="6373368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903720" y="1591056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Hostile acquisition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903720" y="1938528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CloudFront/Akamai anti-bot walls, geo-blocks and TLS fingerprinting; links in official inventories die (we found dead links in the provided inventory itself).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182112"/>
            <a:ext cx="5440680" cy="1572768"/>
          </a:xfrm>
          <a:prstGeom prst="roundRect">
            <a:avLst>
              <a:gd name="adj" fmla="val 4651"/>
            </a:avLst>
          </a:prstGeom>
          <a:solidFill>
            <a:srgbClr val="EDF5FC"/>
          </a:solidFill>
          <a:ln/>
        </p:spPr>
      </p:sp>
      <p:sp>
        <p:nvSpPr>
          <p:cNvPr id="15" name="Shape 13"/>
          <p:cNvSpPr/>
          <p:nvPr/>
        </p:nvSpPr>
        <p:spPr>
          <a:xfrm>
            <a:off x="749808" y="3383280"/>
            <a:ext cx="384048" cy="384048"/>
          </a:xfrm>
          <a:prstGeom prst="ellipse">
            <a:avLst/>
          </a:prstGeom>
          <a:solidFill>
            <a:srgbClr val="1D6FB8"/>
          </a:solidFill>
          <a:ln/>
        </p:spPr>
      </p:sp>
      <p:sp>
        <p:nvSpPr>
          <p:cNvPr id="16" name="Text 14"/>
          <p:cNvSpPr/>
          <p:nvPr/>
        </p:nvSpPr>
        <p:spPr>
          <a:xfrm>
            <a:off x="749808" y="3383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80160" y="331012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documents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280160" y="3657600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Scanned gazettes need OCR; consolidated acts exceed 600 pages; Malaysia publishes bilingual text ("Seksyen 12A"); treaties use Article grammar.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72200" y="3182112"/>
            <a:ext cx="5440680" cy="1572768"/>
          </a:xfrm>
          <a:prstGeom prst="roundRect">
            <a:avLst>
              <a:gd name="adj" fmla="val 4651"/>
            </a:avLst>
          </a:prstGeom>
          <a:solidFill>
            <a:srgbClr val="EDF5FC"/>
          </a:solidFill>
          <a:ln/>
        </p:spPr>
      </p:sp>
      <p:sp>
        <p:nvSpPr>
          <p:cNvPr id="20" name="Shape 18"/>
          <p:cNvSpPr/>
          <p:nvPr/>
        </p:nvSpPr>
        <p:spPr>
          <a:xfrm>
            <a:off x="6373368" y="3383280"/>
            <a:ext cx="384048" cy="384048"/>
          </a:xfrm>
          <a:prstGeom prst="ellipse">
            <a:avLst/>
          </a:prstGeom>
          <a:solidFill>
            <a:srgbClr val="1D6FB8"/>
          </a:solidFill>
          <a:ln/>
        </p:spPr>
      </p:sp>
      <p:sp>
        <p:nvSpPr>
          <p:cNvPr id="21" name="Text 19"/>
          <p:cNvSpPr/>
          <p:nvPr/>
        </p:nvSpPr>
        <p:spPr>
          <a:xfrm>
            <a:off x="6373368" y="3383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903720" y="331012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precision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6903720" y="3657600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quote that stops mid-clause, a repealed act cited as current, or a wrong pinpoint costs real credibility — lawyers must verify in seconds, not hours.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4901184"/>
            <a:ext cx="5440680" cy="1572768"/>
          </a:xfrm>
          <a:prstGeom prst="roundRect">
            <a:avLst>
              <a:gd name="adj" fmla="val 4651"/>
            </a:avLst>
          </a:prstGeom>
          <a:solidFill>
            <a:srgbClr val="EDF5FC"/>
          </a:solidFill>
          <a:ln/>
        </p:spPr>
      </p:sp>
      <p:sp>
        <p:nvSpPr>
          <p:cNvPr id="25" name="Shape 23"/>
          <p:cNvSpPr/>
          <p:nvPr/>
        </p:nvSpPr>
        <p:spPr>
          <a:xfrm>
            <a:off x="749808" y="5102352"/>
            <a:ext cx="384048" cy="384048"/>
          </a:xfrm>
          <a:prstGeom prst="ellipse">
            <a:avLst/>
          </a:prstGeom>
          <a:solidFill>
            <a:srgbClr val="1D6FB8"/>
          </a:solidFill>
          <a:ln/>
        </p:spPr>
      </p:sp>
      <p:sp>
        <p:nvSpPr>
          <p:cNvPr id="26" name="Text 24"/>
          <p:cNvSpPr/>
          <p:nvPr/>
        </p:nvSpPr>
        <p:spPr>
          <a:xfrm>
            <a:off x="749808" y="5102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280160" y="50292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Polarity traps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280160" y="5376672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7.1/7.2 score the ABSENCE of frameworks; 7.5 turns on a court-order test; 6.4-vs-6.1 hinges on condition-vs-ban — keyword matching gets these wrong.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172200" y="4901184"/>
            <a:ext cx="5440680" cy="1572768"/>
          </a:xfrm>
          <a:prstGeom prst="roundRect">
            <a:avLst>
              <a:gd name="adj" fmla="val 4651"/>
            </a:avLst>
          </a:prstGeom>
          <a:solidFill>
            <a:srgbClr val="EDF5FC"/>
          </a:solidFill>
          <a:ln/>
        </p:spPr>
      </p:sp>
      <p:sp>
        <p:nvSpPr>
          <p:cNvPr id="30" name="Shape 28"/>
          <p:cNvSpPr/>
          <p:nvPr/>
        </p:nvSpPr>
        <p:spPr>
          <a:xfrm>
            <a:off x="6373368" y="5102352"/>
            <a:ext cx="384048" cy="384048"/>
          </a:xfrm>
          <a:prstGeom prst="ellipse">
            <a:avLst/>
          </a:prstGeom>
          <a:solidFill>
            <a:srgbClr val="1D6FB8"/>
          </a:solidFill>
          <a:ln/>
        </p:spPr>
      </p:sp>
      <p:sp>
        <p:nvSpPr>
          <p:cNvPr id="31" name="Text 29"/>
          <p:cNvSpPr/>
          <p:nvPr/>
        </p:nvSpPr>
        <p:spPr>
          <a:xfrm>
            <a:off x="6373368" y="5102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903720" y="50292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Proving absence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6903720" y="5376672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 provision found" is a claim about the whole corpus — it must be backed by a search-coverage manifest, not silence.</a:t>
            </a:r>
            <a:endParaRPr lang="en-US" sz="1100" dirty="0"/>
          </a:p>
        </p:txBody>
      </p:sp>
      <p:pic>
        <p:nvPicPr>
          <p:cNvPr id="34" name="Picture 33" descr="escap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117" y="146304"/>
            <a:ext cx="995148" cy="310896"/>
          </a:xfrm>
          <a:prstGeom prst="rect">
            <a:avLst/>
          </a:prstGeom>
        </p:spPr>
      </p:pic>
      <p:pic>
        <p:nvPicPr>
          <p:cNvPr id="35" name="Picture 34" descr="cc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77856" y="173736"/>
            <a:ext cx="1412977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CLAUSECHAIN IS DESIGNED TO ACCOMPLISH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2A47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Objective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1115568"/>
          </a:xfrm>
          <a:prstGeom prst="roundRect">
            <a:avLst>
              <a:gd name="adj" fmla="val 6557"/>
            </a:avLst>
          </a:prstGeom>
          <a:solidFill>
            <a:srgbClr val="EDF5FC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463040"/>
            <a:ext cx="0" cy="0"/>
          </a:xfrm>
          <a:prstGeom prst="rect">
            <a:avLst/>
          </a:prstGeom>
          <a:solidFill>
            <a:srgbClr val="EDF5FC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55448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54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discovery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840480" y="1554480"/>
            <a:ext cx="758952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Crawl official portals and the ESCAP legal inventory; acquire, archive and hash every source; discover provision-level NEW evidence beyond the sample kit — the 20-point lever.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724912"/>
            <a:ext cx="11064240" cy="1115568"/>
          </a:xfrm>
          <a:prstGeom prst="roundRect">
            <a:avLst>
              <a:gd name="adj" fmla="val 6557"/>
            </a:avLst>
          </a:prstGeom>
          <a:solidFill>
            <a:srgbClr val="EDF5FC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724912"/>
            <a:ext cx="0" cy="0"/>
          </a:xfrm>
          <a:prstGeom prst="rect">
            <a:avLst/>
          </a:prstGeom>
          <a:solidFill>
            <a:srgbClr val="EDF5FC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2816352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54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Faithful extraction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840480" y="2816352"/>
            <a:ext cx="758952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statutes into their real structure (Part → section → subsection), never fixed-size chunks; OCR scanned gazettes with CER &lt; 5%; keep original-language verbatim text.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986784"/>
            <a:ext cx="11064240" cy="1115568"/>
          </a:xfrm>
          <a:prstGeom prst="roundRect">
            <a:avLst>
              <a:gd name="adj" fmla="val 6557"/>
            </a:avLst>
          </a:prstGeom>
          <a:solidFill>
            <a:srgbClr val="EDF5FC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3986784"/>
            <a:ext cx="0" cy="0"/>
          </a:xfrm>
          <a:prstGeom prst="rect">
            <a:avLst/>
          </a:prstGeom>
          <a:solidFill>
            <a:srgbClr val="EDF5FC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078224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54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mapping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840480" y="4078224"/>
            <a:ext cx="758952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provisions to P6-I1…P7-I5 with rubric-as-code + LLM reasoning, then force every row through 9 deterministic gates before it may exist in the output.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5248656"/>
            <a:ext cx="11064240" cy="1115568"/>
          </a:xfrm>
          <a:prstGeom prst="roundRect">
            <a:avLst>
              <a:gd name="adj" fmla="val 6557"/>
            </a:avLst>
          </a:prstGeom>
          <a:solidFill>
            <a:srgbClr val="EDF5FC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5248656"/>
            <a:ext cx="0" cy="0"/>
          </a:xfrm>
          <a:prstGeom prst="rect">
            <a:avLst/>
          </a:prstGeom>
          <a:solidFill>
            <a:srgbClr val="EDF5FC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5340096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54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Human-authoritative output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840480" y="5340096"/>
            <a:ext cx="758952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Role-separated named review (citation vs mapping), append-only decision receipts, and a deterministic replay that regenerates the final CSV/JSON from approvals alone.</a:t>
            </a:r>
            <a:endParaRPr lang="en-US" sz="1250" dirty="0"/>
          </a:p>
        </p:txBody>
      </p:sp>
      <p:pic>
        <p:nvPicPr>
          <p:cNvPr id="20" name="Picture 19" descr="escap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117" y="146304"/>
            <a:ext cx="995148" cy="310896"/>
          </a:xfrm>
          <a:prstGeom prst="rect">
            <a:avLst/>
          </a:prstGeom>
        </p:spPr>
      </p:pic>
      <p:pic>
        <p:nvPicPr>
          <p:cNvPr id="21" name="Picture 20" descr="cc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77856" y="173736"/>
            <a:ext cx="1412977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FLOW, SOURCE TO SUBMISSION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2A47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System Architecture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2148840" cy="713232"/>
          </a:xfrm>
          <a:prstGeom prst="roundRect">
            <a:avLst>
              <a:gd name="adj" fmla="val 7692"/>
            </a:avLst>
          </a:prstGeom>
          <a:solidFill>
            <a:srgbClr val="14548F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81328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880360" y="1481328"/>
            <a:ext cx="8732520" cy="713232"/>
          </a:xfrm>
          <a:prstGeom prst="roundRect">
            <a:avLst>
              <a:gd name="adj" fmla="val 10256"/>
            </a:avLst>
          </a:prstGeom>
          <a:solidFill>
            <a:srgbClr val="EDF5FC"/>
          </a:solidFill>
          <a:ln/>
        </p:spPr>
      </p:sp>
      <p:sp>
        <p:nvSpPr>
          <p:cNvPr id="7" name="Text 5"/>
          <p:cNvSpPr/>
          <p:nvPr/>
        </p:nvSpPr>
        <p:spPr>
          <a:xfrm>
            <a:off x="3108960" y="1481328"/>
            <a:ext cx="8321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 · lom.agc · legislation.gov.au · gazettes · MITI/ESG treaty registers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481328" y="2194560"/>
            <a:ext cx="274320" cy="164592"/>
          </a:xfrm>
          <a:prstGeom prst="downArrow">
            <a:avLst/>
          </a:prstGeom>
          <a:solidFill>
            <a:srgbClr val="B8C6D4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359152"/>
            <a:ext cx="2148840" cy="713232"/>
          </a:xfrm>
          <a:prstGeom prst="roundRect">
            <a:avLst>
              <a:gd name="adj" fmla="val 7692"/>
            </a:avLst>
          </a:prstGeom>
          <a:solidFill>
            <a:srgbClr val="1D6FB8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359152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ACQUIRE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880360" y="2359152"/>
            <a:ext cx="8732520" cy="713232"/>
          </a:xfrm>
          <a:prstGeom prst="roundRect">
            <a:avLst>
              <a:gd name="adj" fmla="val 10256"/>
            </a:avLst>
          </a:prstGeom>
          <a:solidFill>
            <a:srgbClr val="EDF5FC"/>
          </a:solidFill>
          <a:ln/>
        </p:spPr>
      </p:sp>
      <p:sp>
        <p:nvSpPr>
          <p:cNvPr id="12" name="Text 10"/>
          <p:cNvSpPr/>
          <p:nvPr/>
        </p:nvSpPr>
        <p:spPr>
          <a:xfrm>
            <a:off x="3108960" y="2359152"/>
            <a:ext cx="8321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Seeds pipeline · politeness + Playwright anti-bot fallback · archive + SHA-256 · reconciliation report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481328" y="3072384"/>
            <a:ext cx="274320" cy="164592"/>
          </a:xfrm>
          <a:prstGeom prst="downArrow">
            <a:avLst/>
          </a:prstGeom>
          <a:solidFill>
            <a:srgbClr val="B8C6D4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3236976"/>
            <a:ext cx="2148840" cy="713232"/>
          </a:xfrm>
          <a:prstGeom prst="roundRect">
            <a:avLst>
              <a:gd name="adj" fmla="val 7692"/>
            </a:avLst>
          </a:prstGeom>
          <a:solidFill>
            <a:srgbClr val="0E9E8E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3236976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880360" y="3236976"/>
            <a:ext cx="8732520" cy="713232"/>
          </a:xfrm>
          <a:prstGeom prst="roundRect">
            <a:avLst>
              <a:gd name="adj" fmla="val 10256"/>
            </a:avLst>
          </a:prstGeom>
          <a:solidFill>
            <a:srgbClr val="EDF5FC"/>
          </a:solidFill>
          <a:ln/>
        </p:spPr>
      </p:sp>
      <p:sp>
        <p:nvSpPr>
          <p:cNvPr id="17" name="Text 15"/>
          <p:cNvSpPr/>
          <p:nvPr/>
        </p:nvSpPr>
        <p:spPr>
          <a:xfrm>
            <a:off x="3108960" y="3236976"/>
            <a:ext cx="8321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Format-based: anchored HTML · statute PDF · EPUB oracle · OCR VM · grammar profiles (treaty / Malay)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481328" y="3950208"/>
            <a:ext cx="274320" cy="164592"/>
          </a:xfrm>
          <a:prstGeom prst="downArrow">
            <a:avLst/>
          </a:prstGeom>
          <a:solidFill>
            <a:srgbClr val="B8C6D4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640" y="4114800"/>
            <a:ext cx="2148840" cy="713232"/>
          </a:xfrm>
          <a:prstGeom prst="roundRect">
            <a:avLst>
              <a:gd name="adj" fmla="val 7692"/>
            </a:avLst>
          </a:prstGeom>
          <a:solidFill>
            <a:srgbClr val="0E7490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4114800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880360" y="4114800"/>
            <a:ext cx="8732520" cy="713232"/>
          </a:xfrm>
          <a:prstGeom prst="roundRect">
            <a:avLst>
              <a:gd name="adj" fmla="val 10256"/>
            </a:avLst>
          </a:prstGeom>
          <a:solidFill>
            <a:srgbClr val="EDF5FC"/>
          </a:solidFill>
          <a:ln/>
        </p:spPr>
      </p:sp>
      <p:sp>
        <p:nvSpPr>
          <p:cNvPr id="22" name="Text 20"/>
          <p:cNvSpPr/>
          <p:nvPr/>
        </p:nvSpPr>
        <p:spPr>
          <a:xfrm>
            <a:off x="3108960" y="4114800"/>
            <a:ext cx="8321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RuleUnit store (SQLite default, Neo4j opt-in) · FTS5 + embeddings · cross-references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481328" y="4828032"/>
            <a:ext cx="274320" cy="164592"/>
          </a:xfrm>
          <a:prstGeom prst="downArrow">
            <a:avLst/>
          </a:prstGeom>
          <a:solidFill>
            <a:srgbClr val="B8C6D4"/>
          </a:solidFill>
          <a:ln/>
        </p:spPr>
      </p:sp>
      <p:sp>
        <p:nvSpPr>
          <p:cNvPr id="24" name="Shape 22"/>
          <p:cNvSpPr/>
          <p:nvPr/>
        </p:nvSpPr>
        <p:spPr>
          <a:xfrm>
            <a:off x="548640" y="4992624"/>
            <a:ext cx="2148840" cy="713232"/>
          </a:xfrm>
          <a:prstGeom prst="roundRect">
            <a:avLst>
              <a:gd name="adj" fmla="val 7692"/>
            </a:avLst>
          </a:prstGeom>
          <a:solidFill>
            <a:srgbClr val="D9A441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992624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&amp; GATE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880360" y="4992624"/>
            <a:ext cx="8732520" cy="713232"/>
          </a:xfrm>
          <a:prstGeom prst="roundRect">
            <a:avLst>
              <a:gd name="adj" fmla="val 10256"/>
            </a:avLst>
          </a:prstGeom>
          <a:solidFill>
            <a:srgbClr val="EDF5FC"/>
          </a:solidFill>
          <a:ln/>
        </p:spPr>
      </p:sp>
      <p:sp>
        <p:nvSpPr>
          <p:cNvPr id="27" name="Text 25"/>
          <p:cNvSpPr/>
          <p:nvPr/>
        </p:nvSpPr>
        <p:spPr>
          <a:xfrm>
            <a:off x="3108960" y="4992624"/>
            <a:ext cx="8321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retrieval → LLM screen/map (nano→mini escalation) → gates G1–G9 → NEW/KNOWN diff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1481328" y="5705856"/>
            <a:ext cx="274320" cy="164592"/>
          </a:xfrm>
          <a:prstGeom prst="downArrow">
            <a:avLst/>
          </a:prstGeom>
          <a:solidFill>
            <a:srgbClr val="B8C6D4"/>
          </a:solidFill>
          <a:ln/>
        </p:spPr>
      </p:sp>
      <p:sp>
        <p:nvSpPr>
          <p:cNvPr id="29" name="Shape 27"/>
          <p:cNvSpPr/>
          <p:nvPr/>
        </p:nvSpPr>
        <p:spPr>
          <a:xfrm>
            <a:off x="548640" y="5870448"/>
            <a:ext cx="2148840" cy="713232"/>
          </a:xfrm>
          <a:prstGeom prst="roundRect">
            <a:avLst>
              <a:gd name="adj" fmla="val 7692"/>
            </a:avLst>
          </a:prstGeom>
          <a:solidFill>
            <a:srgbClr val="0F2A47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5870448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&amp; SHIP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2880360" y="5870448"/>
            <a:ext cx="8732520" cy="713232"/>
          </a:xfrm>
          <a:prstGeom prst="roundRect">
            <a:avLst>
              <a:gd name="adj" fmla="val 10256"/>
            </a:avLst>
          </a:prstGeom>
          <a:solidFill>
            <a:srgbClr val="EDF5FC"/>
          </a:solidFill>
          <a:ln/>
        </p:spPr>
      </p:sp>
      <p:sp>
        <p:nvSpPr>
          <p:cNvPr id="32" name="Text 30"/>
          <p:cNvSpPr/>
          <p:nvPr/>
        </p:nvSpPr>
        <p:spPr>
          <a:xfrm>
            <a:off x="3108960" y="5870448"/>
            <a:ext cx="8321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refuter · named human review · zone-3 noise audit · replay → CSV/JSON</a:t>
            </a:r>
            <a:endParaRPr lang="en-US" sz="1200" dirty="0"/>
          </a:p>
        </p:txBody>
      </p:sp>
      <p:pic>
        <p:nvPicPr>
          <p:cNvPr id="33" name="Picture 32" descr="escap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117" y="146304"/>
            <a:ext cx="995148" cy="310896"/>
          </a:xfrm>
          <a:prstGeom prst="rect">
            <a:avLst/>
          </a:prstGeom>
        </p:spPr>
      </p:pic>
      <p:pic>
        <p:nvPicPr>
          <p:cNvPr id="34" name="Picture 33" descr="cc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77856" y="173736"/>
            <a:ext cx="1412977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STACK, FRAMEWORKS, LICENSING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2A47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Technology Solution &amp; Innovative Features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86400" cy="4846320"/>
          </a:xfrm>
          <a:prstGeom prst="roundRect">
            <a:avLst>
              <a:gd name="adj" fmla="val 1509"/>
            </a:avLst>
          </a:prstGeom>
          <a:solidFill>
            <a:srgbClr val="EDF5F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0020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&amp; LICENSING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1965960"/>
            <a:ext cx="49377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— Python 3.12 (PSF), httpx/pydantic/numpy (BSD/MIT), pymupdf (AGPL, unmodified library use)</a:t>
            </a:r>
            <a:endParaRPr lang="en-US" sz="1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— SQLite + FTS5 (public domain) default · Neo4j Community (GPLv3) optional via GRAPH_BACKEND</a:t>
            </a:r>
            <a:endParaRPr lang="en-US" sz="1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— profile-swappable via models.yaml: cloud GPT nano/mini tiers (operator key) or local Ollama; BGE-M3 embeddings (MIT); local OCR</a:t>
            </a:r>
            <a:endParaRPr lang="en-US" sz="1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— Django + DRF (BSD), Next.js/React (MIT), PostgreSQL (PostgreSQL licence)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— systemd + nginx on plain Linux; no proprietary services required; Path A runs fully offline from a clean clone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309360" y="1417320"/>
            <a:ext cx="5303520" cy="4846320"/>
          </a:xfrm>
          <a:prstGeom prst="roundRect">
            <a:avLst>
              <a:gd name="adj" fmla="val 1509"/>
            </a:avLst>
          </a:prstGeom>
          <a:solidFill>
            <a:srgbClr val="F3FBF9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0" y="16002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IT DIFFERENT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0" y="1965960"/>
            <a:ext cx="47548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chain, not just answers — every row: archived bytes + SHA-256 + span-level citation proof + gate results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Rubric-as-code — indicator polarity, 0.5 tiers, exclusions and treaty scoping live in YAML data, never in code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failure — dead links become ACQUISITION_UNRESOLVED facts that BLOCK absence conclusions (network failure is never legal absence)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fingerprints — source sha + extractor version + grammar profile gate every cache reuse; parser changes force re-extraction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Gold-audit tripwire — we detected planted errors in the provided Malaysia gold data and filed corrections with receipts</a:t>
            </a:r>
            <a:endParaRPr lang="en-US" sz="1200" dirty="0"/>
          </a:p>
        </p:txBody>
      </p:sp>
      <p:pic>
        <p:nvPicPr>
          <p:cNvPr id="10" name="Picture 9" descr="escap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117" y="146304"/>
            <a:ext cx="995148" cy="310896"/>
          </a:xfrm>
          <a:prstGeom prst="rect">
            <a:avLst/>
          </a:prstGeom>
        </p:spPr>
      </p:pic>
      <p:pic>
        <p:nvPicPr>
          <p:cNvPr id="11" name="Picture 10" descr="cc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77856" y="173736"/>
            <a:ext cx="1412977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 = STATUTE STRUCTURE, NEVER FIXED WINDOWS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2A47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Backend Logic I — Discover, Extract, Structure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64240" cy="1133856"/>
          </a:xfrm>
          <a:prstGeom prst="roundRect">
            <a:avLst>
              <a:gd name="adj" fmla="val 6452"/>
            </a:avLst>
          </a:prstGeom>
          <a:solidFill>
            <a:srgbClr val="EDF5F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508760"/>
            <a:ext cx="219456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54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108960" y="1490472"/>
            <a:ext cx="832104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data/seeds.json (ESCAP inventory + deep-research deltas) drives acquisition. Each build reconciles the manifest: cached-ok is never refetched, new rows are fetched, failures are recorded — and declared expectations (e.g. "Art. 14.11 must parse") fail the build closed if the wrong document came back.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2697480"/>
            <a:ext cx="11064240" cy="1133856"/>
          </a:xfrm>
          <a:prstGeom prst="roundRect">
            <a:avLst>
              <a:gd name="adj" fmla="val 6452"/>
            </a:avLst>
          </a:prstGeom>
          <a:solidFill>
            <a:srgbClr val="EDF5FC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788920"/>
            <a:ext cx="219456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54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108960" y="2770632"/>
            <a:ext cx="832104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Extractors are organized by FILE FORMAT, not country: anchored-HTML (SSO print view, incl. subsidiary legislation), statute-PDF with named grammar profiles (Commonwealth "s. 12(1)", treaty "Art. 14.11", Malay "Seksyen 12A"), EPUB structure oracle aligned to the authorised PDF, OCR for scanned gazettes.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3977640"/>
            <a:ext cx="11064240" cy="1133856"/>
          </a:xfrm>
          <a:prstGeom prst="roundRect">
            <a:avLst>
              <a:gd name="adj" fmla="val 6452"/>
            </a:avLst>
          </a:prstGeom>
          <a:solidFill>
            <a:srgbClr val="EDF5FC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4069080"/>
            <a:ext cx="219456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54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 strategy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108960" y="4050792"/>
            <a:ext cx="832104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unit of retrieval and citation is the RuleUnit: one provision at subsection depth (id, article path, verbatim text, parent-section context, page/anchor location, modality components). No sliding windows — a citation can always name its exact clause.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5257800"/>
            <a:ext cx="11064240" cy="1133856"/>
          </a:xfrm>
          <a:prstGeom prst="roundRect">
            <a:avLst>
              <a:gd name="adj" fmla="val 6452"/>
            </a:avLst>
          </a:prstGeom>
          <a:solidFill>
            <a:srgbClr val="EDF5FC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5349240"/>
            <a:ext cx="219456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54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108960" y="5330952"/>
            <a:ext cx="832104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→ Section → Provision nodes with CROSS_REFERENCES / AMENDS edges in a swappable GraphStore (SQLite judged path; Neo4j demo). Every provision carries legal status evidence, eligibility, source-artifact hash and processing fingerprint.</a:t>
            </a:r>
            <a:endParaRPr lang="en-US" sz="1100" dirty="0"/>
          </a:p>
        </p:txBody>
      </p:sp>
      <p:pic>
        <p:nvPicPr>
          <p:cNvPr id="16" name="Picture 15" descr="escap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117" y="146304"/>
            <a:ext cx="995148" cy="310896"/>
          </a:xfrm>
          <a:prstGeom prst="rect">
            <a:avLst/>
          </a:prstGeom>
        </p:spPr>
      </p:pic>
      <p:pic>
        <p:nvPicPr>
          <p:cNvPr id="17" name="Picture 16" descr="cc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77856" y="173736"/>
            <a:ext cx="1412977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RETRIEVAL · RUBRIC-AS-CODE MAPPING · 9 GATES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2A47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Backend Logic II — Retrieve, Map, Verify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64240" cy="1133856"/>
          </a:xfrm>
          <a:prstGeom prst="roundRect">
            <a:avLst>
              <a:gd name="adj" fmla="val 6452"/>
            </a:avLst>
          </a:prstGeom>
          <a:solidFill>
            <a:srgbClr val="EDF5F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508760"/>
            <a:ext cx="219456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54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retrieval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108960" y="1490472"/>
            <a:ext cx="832104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legs, unioned broad-recall (never top-k): deterministic exact-phrase/defined-term scan, BM25 full-text (FTS5), dense cosine (cached embeddings). Master-known anchors are INJECTED into the candidate set so gold recall never depends on ranking. Source-type allowlists scope evidence classes per indicator (P6-I5 = treaties only) before any cap; every truncation is recorded.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2697480"/>
            <a:ext cx="11064240" cy="1133856"/>
          </a:xfrm>
          <a:prstGeom prst="roundRect">
            <a:avLst>
              <a:gd name="adj" fmla="val 6452"/>
            </a:avLst>
          </a:prstGeom>
          <a:solidFill>
            <a:srgbClr val="EDF5FC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788920"/>
            <a:ext cx="219456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54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108960" y="2770632"/>
            <a:ext cx="832104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screen (bulk tier) → mapping (high tier) with the indicator brief generated from YAML: legal test, polarity rule (absence-scored 7.1/7.2/6.5), exclusions, official scoring criteria. Low-confidence and ban-vs-condition ambiguity escalate to a stronger model; every rationale is stored.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3977640"/>
            <a:ext cx="11064240" cy="1133856"/>
          </a:xfrm>
          <a:prstGeom prst="roundRect">
            <a:avLst>
              <a:gd name="adj" fmla="val 6452"/>
            </a:avLst>
          </a:prstGeom>
          <a:solidFill>
            <a:srgbClr val="EDF5FC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4069080"/>
            <a:ext cx="219456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54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G1–G9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108960" y="4050792"/>
            <a:ext cx="832104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Deterministic, fail-closed, run on the FINAL exported text: G1 snippet is byte-exact in the archived source · G2 location · G3 official-domain authority · G4 currentness/status · G5 whole-rule · G6 rationale support · G7 indicator fit · G8 dangling references · G9 span-closure review flag.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5257800"/>
            <a:ext cx="11064240" cy="1133856"/>
          </a:xfrm>
          <a:prstGeom prst="roundRect">
            <a:avLst>
              <a:gd name="adj" fmla="val 6452"/>
            </a:avLst>
          </a:prstGeom>
          <a:solidFill>
            <a:srgbClr val="EDF5FC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5349240"/>
            <a:ext cx="219456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54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cases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108960" y="5330952"/>
            <a:ext cx="832104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Ambiguity is surfaced, not hidden: adversarial refuter attacks every NEW row; absence rows ship a search-coverage manifest and are blocked while any configured acquisition is unresolved; zone-3 scores get a multi-persona noise audit with Krippendorff’s α and a master-gold tripwire.</a:t>
            </a:r>
            <a:endParaRPr lang="en-US" sz="1050" dirty="0"/>
          </a:p>
        </p:txBody>
      </p:sp>
      <p:pic>
        <p:nvPicPr>
          <p:cNvPr id="16" name="Picture 15" descr="escap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117" y="146304"/>
            <a:ext cx="995148" cy="310896"/>
          </a:xfrm>
          <a:prstGeom prst="rect">
            <a:avLst/>
          </a:prstGeom>
        </p:spPr>
      </p:pic>
      <p:pic>
        <p:nvPicPr>
          <p:cNvPr id="17" name="Picture 16" descr="cc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77856" y="173736"/>
            <a:ext cx="1412977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MEASURED, LOGGED, REPRODUCIBLE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2A47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Evaluation Metrics &amp; Performance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651760" cy="1965960"/>
          </a:xfrm>
          <a:prstGeom prst="roundRect">
            <a:avLst>
              <a:gd name="adj" fmla="val 3721"/>
            </a:avLst>
          </a:prstGeom>
          <a:solidFill>
            <a:srgbClr val="EDF5FC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60020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1D6FB8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53,969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242316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provisions in the judged corpus (SG 10,494 · MY 3,688 · AU 39,787)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55848" y="1463040"/>
            <a:ext cx="2651760" cy="1965960"/>
          </a:xfrm>
          <a:prstGeom prst="roundRect">
            <a:avLst>
              <a:gd name="adj" fmla="val 3721"/>
            </a:avLst>
          </a:prstGeom>
          <a:solidFill>
            <a:srgbClr val="EDF5FC"/>
          </a:solidFill>
          <a:ln/>
        </p:spPr>
      </p:sp>
      <p:sp>
        <p:nvSpPr>
          <p:cNvPr id="8" name="Text 6"/>
          <p:cNvSpPr/>
          <p:nvPr/>
        </p:nvSpPr>
        <p:spPr>
          <a:xfrm>
            <a:off x="3493008" y="160020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1D6FB8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9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3538728" y="242316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gates on every row — snippet exactness is enforced by construction, not sampled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163056" y="1463040"/>
            <a:ext cx="2651760" cy="1965960"/>
          </a:xfrm>
          <a:prstGeom prst="roundRect">
            <a:avLst>
              <a:gd name="adj" fmla="val 3721"/>
            </a:avLst>
          </a:prstGeom>
          <a:solidFill>
            <a:srgbClr val="EDF5FC"/>
          </a:solidFill>
          <a:ln/>
        </p:spPr>
      </p:sp>
      <p:sp>
        <p:nvSpPr>
          <p:cNvPr id="11" name="Text 9"/>
          <p:cNvSpPr/>
          <p:nvPr/>
        </p:nvSpPr>
        <p:spPr>
          <a:xfrm>
            <a:off x="6300216" y="160020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1D6FB8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74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6345936" y="242316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provision-level NEW findings discovered beyond the sample kit in the final sweep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970264" y="1463040"/>
            <a:ext cx="2651760" cy="1965960"/>
          </a:xfrm>
          <a:prstGeom prst="roundRect">
            <a:avLst>
              <a:gd name="adj" fmla="val 3721"/>
            </a:avLst>
          </a:prstGeom>
          <a:solidFill>
            <a:srgbClr val="EDF5FC"/>
          </a:solidFill>
          <a:ln/>
        </p:spPr>
      </p:sp>
      <p:sp>
        <p:nvSpPr>
          <p:cNvPr id="14" name="Text 12"/>
          <p:cNvSpPr/>
          <p:nvPr/>
        </p:nvSpPr>
        <p:spPr>
          <a:xfrm>
            <a:off x="9107424" y="160020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1D6FB8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148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9153144" y="242316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green, incl. builder-level integration and champion-contract suites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703320"/>
            <a:ext cx="11064240" cy="2560320"/>
          </a:xfrm>
          <a:prstGeom prst="roundRect">
            <a:avLst>
              <a:gd name="adj" fmla="val 2857"/>
            </a:avLst>
          </a:prstGeom>
          <a:solidFill>
            <a:srgbClr val="EDF5FC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388620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MEASURE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22960" y="4224528"/>
            <a:ext cx="1051560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 fidelity — G1 verifies each exported snippet byte-exact against the archived official copy; alignment proofs bind PDF page spans. Zero-tolerance: a row that fails any gate cannot be exported.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Master-gold recall — every master-known anchor is tracked per run; misses are adjudicated into REAL_MISS / GOLD_WRONG / CORRECT_ABSTENTION with receipts (we filed corrections to the provided gold where its own citations were wrong).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quality — scanned-gazette path measured by character error rate (target &lt; 5%), with per-page confidence and citation-token disagreement flags carried into review.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&amp; speed — logs/cost_report.json meters every call; one economy-pillar run ≈ 7–15 min on the accuracy profile; embeddings cached, unchanged documents restamped, LLM spend only on changed evidence.</a:t>
            </a:r>
            <a:endParaRPr lang="en-US" sz="1150" dirty="0"/>
          </a:p>
        </p:txBody>
      </p:sp>
      <p:pic>
        <p:nvPicPr>
          <p:cNvPr id="19" name="Picture 18" descr="escap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117" y="146304"/>
            <a:ext cx="995148" cy="310896"/>
          </a:xfrm>
          <a:prstGeom prst="rect">
            <a:avLst/>
          </a:prstGeom>
        </p:spPr>
      </p:pic>
      <p:pic>
        <p:nvPicPr>
          <p:cNvPr id="20" name="Picture 19" descr="cc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77856" y="173736"/>
            <a:ext cx="1412977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JUDGES WILL SEE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2A47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Demo &amp; Preview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1078992"/>
          </a:xfrm>
          <a:prstGeom prst="roundRect">
            <a:avLst>
              <a:gd name="adj" fmla="val 6780"/>
            </a:avLst>
          </a:prstGeom>
          <a:solidFill>
            <a:srgbClr val="EDF5FC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682496"/>
            <a:ext cx="2286000" cy="640080"/>
          </a:xfrm>
          <a:prstGeom prst="roundRect">
            <a:avLst>
              <a:gd name="adj" fmla="val 8571"/>
            </a:avLst>
          </a:prstGeom>
          <a:solidFill>
            <a:srgbClr val="14548F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82496"/>
            <a:ext cx="228600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One command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291840" y="1536192"/>
            <a:ext cx="813816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run.py --economy Singapore --pillar 6 — clean clone, offline Path A, no keys. The same engine the web console triggers.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688336"/>
            <a:ext cx="11064240" cy="1078992"/>
          </a:xfrm>
          <a:prstGeom prst="roundRect">
            <a:avLst>
              <a:gd name="adj" fmla="val 6780"/>
            </a:avLst>
          </a:prstGeom>
          <a:solidFill>
            <a:srgbClr val="EDF5FC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" y="2907792"/>
            <a:ext cx="2286000" cy="640080"/>
          </a:xfrm>
          <a:prstGeom prst="roundRect">
            <a:avLst>
              <a:gd name="adj" fmla="val 8571"/>
            </a:avLst>
          </a:prstGeom>
          <a:solidFill>
            <a:srgbClr val="0E9E8E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907792"/>
            <a:ext cx="228600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Live web console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291840" y="2761488"/>
            <a:ext cx="813816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Admin-gated Runs screen starts a real sweep; Review screen walks findings with source context, gate results and refuter verdicts; decisions are written with named, role-separated reviewers.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913632"/>
            <a:ext cx="11064240" cy="1078992"/>
          </a:xfrm>
          <a:prstGeom prst="roundRect">
            <a:avLst>
              <a:gd name="adj" fmla="val 6780"/>
            </a:avLst>
          </a:prstGeom>
          <a:solidFill>
            <a:srgbClr val="EDF5FC"/>
          </a:solidFill>
          <a:ln/>
        </p:spPr>
      </p:sp>
      <p:sp>
        <p:nvSpPr>
          <p:cNvPr id="13" name="Shape 11"/>
          <p:cNvSpPr/>
          <p:nvPr/>
        </p:nvSpPr>
        <p:spPr>
          <a:xfrm>
            <a:off x="777240" y="4133088"/>
            <a:ext cx="2286000" cy="640080"/>
          </a:xfrm>
          <a:prstGeom prst="roundRect">
            <a:avLst>
              <a:gd name="adj" fmla="val 8571"/>
            </a:avLst>
          </a:prstGeom>
          <a:solidFill>
            <a:srgbClr val="D9A441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4133088"/>
            <a:ext cx="228600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Scanned-PDF path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291840" y="3986784"/>
            <a:ext cx="813816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≤10-min recording processes a scanned gazette end-to-end: OCR → RuleUnits → mapped finding with page-anchored citation proof.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138928"/>
            <a:ext cx="11064240" cy="1078992"/>
          </a:xfrm>
          <a:prstGeom prst="roundRect">
            <a:avLst>
              <a:gd name="adj" fmla="val 6780"/>
            </a:avLst>
          </a:prstGeom>
          <a:solidFill>
            <a:srgbClr val="EDF5FC"/>
          </a:solidFill>
          <a:ln/>
        </p:spPr>
      </p:sp>
      <p:sp>
        <p:nvSpPr>
          <p:cNvPr id="17" name="Shape 15"/>
          <p:cNvSpPr/>
          <p:nvPr/>
        </p:nvSpPr>
        <p:spPr>
          <a:xfrm>
            <a:off x="777240" y="5358384"/>
            <a:ext cx="2286000" cy="640080"/>
          </a:xfrm>
          <a:prstGeom prst="roundRect">
            <a:avLst>
              <a:gd name="adj" fmla="val 8571"/>
            </a:avLst>
          </a:prstGeom>
          <a:solidFill>
            <a:srgbClr val="0F2A47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5358384"/>
            <a:ext cx="228600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Replay &amp; receipts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291840" y="5212080"/>
            <a:ext cx="813816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submission_replay.py regenerates the final CSV/JSON purely from approvals; every bundle is content-hashed so the artifact is reproducible on the judges’ machine.</a:t>
            </a:r>
            <a:endParaRPr lang="en-US" sz="1200" dirty="0"/>
          </a:p>
        </p:txBody>
      </p:sp>
      <p:pic>
        <p:nvPicPr>
          <p:cNvPr id="20" name="Picture 19" descr="escap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117" y="146304"/>
            <a:ext cx="995148" cy="310896"/>
          </a:xfrm>
          <a:prstGeom prst="rect">
            <a:avLst/>
          </a:prstGeom>
        </p:spPr>
      </p:pic>
      <p:pic>
        <p:nvPicPr>
          <p:cNvPr id="21" name="Picture 20" descr="cc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77856" y="173736"/>
            <a:ext cx="1412977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2A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dark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822960" y="210312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 STORY · CHAPTER ONE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822960" y="260604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Six walls.</a:t>
            </a:r>
            <a:endParaRPr lang="en-US" sz="4800" dirty="0"/>
          </a:p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Six break-throughs.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822960" y="4114800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on the next six slides actually happened during this build — and each fix left a receipt the engine still carries.</a:t>
            </a:r>
            <a:endParaRPr lang="en-US" sz="1800" dirty="0"/>
          </a:p>
        </p:txBody>
      </p:sp>
      <p:sp>
        <p:nvSpPr>
          <p:cNvPr id="6" name="Rounded Rectangle 5"/>
          <p:cNvSpPr/>
          <p:nvPr/>
        </p:nvSpPr>
        <p:spPr>
          <a:xfrm>
            <a:off x="9290101" y="73152"/>
            <a:ext cx="2828747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escap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117" y="146304"/>
            <a:ext cx="995148" cy="310896"/>
          </a:xfrm>
          <a:prstGeom prst="rect">
            <a:avLst/>
          </a:prstGeom>
        </p:spPr>
      </p:pic>
      <p:pic>
        <p:nvPicPr>
          <p:cNvPr id="8" name="Picture 7" descr="cc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77856" y="173736"/>
            <a:ext cx="1412977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C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1 OF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2A47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The portals fight back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40680" cy="3566160"/>
          </a:xfrm>
          <a:prstGeom prst="roundRect">
            <a:avLst>
              <a:gd name="adj" fmla="val 2051"/>
            </a:avLst>
          </a:prstGeom>
          <a:solidFill>
            <a:srgbClr val="FBEFEC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8288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B0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WALL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240280"/>
            <a:ext cx="4800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Singapore sits behind CloudFront rate-limiting; Australia’s treaty portal (dfat.gov.au) rejects the TLS handshake of anything that is not a real browser. Official inventories even carry dead links. A crawler that pretends this is fine produces silent gaps.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172200" y="1600200"/>
            <a:ext cx="5440680" cy="3566160"/>
          </a:xfrm>
          <a:prstGeom prst="roundRect">
            <a:avLst>
              <a:gd name="adj" fmla="val 2051"/>
            </a:avLst>
          </a:prstGeom>
          <a:solidFill>
            <a:srgbClr val="EDF8F4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0" y="18288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57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BREAKTHROUGH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92240" y="2240280"/>
            <a:ext cx="4800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Politeness + backoff first; a real-browser (Playwright) fallback second. And when a wall would not fall — DFAT stayed geo-blocked — the engine records ACQUISITION_UNRESOLVED instead of concluding “no treaty exists.” Network failure is never legal absence.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539496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EDF5FC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54406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454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RECEIPT   </a:t>
            </a: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Australia P6-I5 ships blocked-by-design, with five unresolved acquisitions listed in its coverage manifest — visible in the app’s review screen.</a:t>
            </a:r>
            <a:endParaRPr lang="en-US" sz="1150" dirty="0"/>
          </a:p>
        </p:txBody>
      </p:sp>
      <p:pic>
        <p:nvPicPr>
          <p:cNvPr id="12" name="Picture 11" descr="escap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117" y="146304"/>
            <a:ext cx="995148" cy="310896"/>
          </a:xfrm>
          <a:prstGeom prst="rect">
            <a:avLst/>
          </a:prstGeom>
        </p:spPr>
      </p:pic>
      <p:pic>
        <p:nvPicPr>
          <p:cNvPr id="13" name="Picture 12" descr="cc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77856" y="173736"/>
            <a:ext cx="1412977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C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2 OF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2A47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The reference data lied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40680" cy="3566160"/>
          </a:xfrm>
          <a:prstGeom prst="roundRect">
            <a:avLst>
              <a:gd name="adj" fmla="val 2051"/>
            </a:avLst>
          </a:prstGeom>
          <a:solidFill>
            <a:srgbClr val="FBEFEC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8288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B0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WALL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240280"/>
            <a:ext cx="4800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Malaysia’s provided reference data contains deliberately planted errors — and Malaysia counts double. One master row cites “clause 4.11” of the Personal Data Protection Act 709. We searched the official text; that clause does not exist.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172200" y="1600200"/>
            <a:ext cx="5440680" cy="3566160"/>
          </a:xfrm>
          <a:prstGeom prst="roundRect">
            <a:avLst>
              <a:gd name="adj" fmla="val 2051"/>
            </a:avLst>
          </a:prstGeom>
          <a:solidFill>
            <a:srgbClr val="EDF8F4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0" y="18288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57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BREAKTHROUGH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92240" y="2240280"/>
            <a:ext cx="4800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reference anchor is re-verified per run. Misses are adjudicated into REAL_MISS / GOLD_WRONG / CORRECT_ABSTENTION with named human decisions — so an error in the reference data becomes a documented correction, not a copied mistake.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539496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EDF5FC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54406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454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RECEIPT   </a:t>
            </a: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GOLD_WRONG adjudications with reviewer receipts in data/review/recall_decisions.json; the audit trail is browsable in the Ledger.</a:t>
            </a:r>
            <a:endParaRPr lang="en-US" sz="1150" dirty="0"/>
          </a:p>
        </p:txBody>
      </p:sp>
      <p:pic>
        <p:nvPicPr>
          <p:cNvPr id="12" name="Picture 11" descr="escap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117" y="146304"/>
            <a:ext cx="995148" cy="310896"/>
          </a:xfrm>
          <a:prstGeom prst="rect">
            <a:avLst/>
          </a:prstGeom>
        </p:spPr>
      </p:pic>
      <p:pic>
        <p:nvPicPr>
          <p:cNvPr id="13" name="Picture 12" descr="cc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77856" y="173736"/>
            <a:ext cx="1412977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C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3 OF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2A47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Monster documents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40680" cy="3566160"/>
          </a:xfrm>
          <a:prstGeom prst="roundRect">
            <a:avLst>
              <a:gd name="adj" fmla="val 2051"/>
            </a:avLst>
          </a:prstGeom>
          <a:solidFill>
            <a:srgbClr val="FBEFEC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8288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B0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WALL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240280"/>
            <a:ext cx="4800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666-page consolidated compilation. A telecommunications act published as two PDF volumes. Tables of contents that mimic real sections and poison naive parsers. Fixed-size chunking would shred provisions mid-sentence and cite none of them correctly.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172200" y="1600200"/>
            <a:ext cx="5440680" cy="3566160"/>
          </a:xfrm>
          <a:prstGeom prst="roundRect">
            <a:avLst>
              <a:gd name="adj" fmla="val 2051"/>
            </a:avLst>
          </a:prstGeom>
          <a:solidFill>
            <a:srgbClr val="EDF8F4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0" y="18288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57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BREAKTHROUGH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92240" y="2240280"/>
            <a:ext cx="4800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Statute-structure parsing: an EPUB structure oracle aligned span-exact to the authorised PDF, a monotonic section filter that kills list-item false positives, and RuleUnits at subsection depth — the unit of retrieval IS the unit of citation.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539496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EDF5FC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54406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454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RECEIPT   </a:t>
            </a: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39,787 Australian provisions parsed with page-anchored citations; Corporations Act 2001 alone contributes 14,078 aligned units.</a:t>
            </a:r>
            <a:endParaRPr lang="en-US" sz="1150" dirty="0"/>
          </a:p>
        </p:txBody>
      </p:sp>
      <p:pic>
        <p:nvPicPr>
          <p:cNvPr id="12" name="Picture 11" descr="escap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117" y="146304"/>
            <a:ext cx="995148" cy="310896"/>
          </a:xfrm>
          <a:prstGeom prst="rect">
            <a:avLst/>
          </a:prstGeom>
        </p:spPr>
      </p:pic>
      <p:pic>
        <p:nvPicPr>
          <p:cNvPr id="13" name="Picture 12" descr="cc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77856" y="173736"/>
            <a:ext cx="1412977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C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4 OF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2A47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The scanner’s ghosts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40680" cy="3566160"/>
          </a:xfrm>
          <a:prstGeom prst="roundRect">
            <a:avLst>
              <a:gd name="adj" fmla="val 2051"/>
            </a:avLst>
          </a:prstGeom>
          <a:solidFill>
            <a:srgbClr val="FBEFEC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8288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B0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WALL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240280"/>
            <a:ext cx="4800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Malaysian gazettes arrive as scans. OCR misreads statutory labels — a “12B” becomes “12b” or worse, and a wrong section label means a wrong citation in front of a lawyer. Bilingual acts print “Seksyen 12A” where the gold data says “s. 12A.”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172200" y="1600200"/>
            <a:ext cx="5440680" cy="3566160"/>
          </a:xfrm>
          <a:prstGeom prst="roundRect">
            <a:avLst>
              <a:gd name="adj" fmla="val 2051"/>
            </a:avLst>
          </a:prstGeom>
          <a:solidFill>
            <a:srgbClr val="EDF8F4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0" y="18288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57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BREAKTHROUGH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92240" y="2240280"/>
            <a:ext cx="4800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OCR router measures per-page confidence and carries it into review; a sequence-aware repair restores misread section labels from statutory order; a named Malay grammar profile parses Seksyen/Perkara headings while keeping Commonwealth citations.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539496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EDF5FC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54406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454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RECEIPT   </a:t>
            </a: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Per-page OCR confidence + citation-token disagreement flags are visible on affected findings in the review screen.</a:t>
            </a:r>
            <a:endParaRPr lang="en-US" sz="1150" dirty="0"/>
          </a:p>
        </p:txBody>
      </p:sp>
      <p:pic>
        <p:nvPicPr>
          <p:cNvPr id="12" name="Picture 11" descr="escap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117" y="146304"/>
            <a:ext cx="995148" cy="310896"/>
          </a:xfrm>
          <a:prstGeom prst="rect">
            <a:avLst/>
          </a:prstGeom>
        </p:spPr>
      </p:pic>
      <p:pic>
        <p:nvPicPr>
          <p:cNvPr id="13" name="Picture 12" descr="cc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77856" y="173736"/>
            <a:ext cx="1412977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C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5 OF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2A47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The polarity trap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40680" cy="3566160"/>
          </a:xfrm>
          <a:prstGeom prst="roundRect">
            <a:avLst>
              <a:gd name="adj" fmla="val 2051"/>
            </a:avLst>
          </a:prstGeom>
          <a:solidFill>
            <a:srgbClr val="FBEFEC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8288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B0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WALL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240280"/>
            <a:ext cx="4800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RDTII scores 7.1, 7.2 and 6.5 on the ABSENCE of frameworks. Our first treaty sweep proved how dangerous that is: retrieval surfaced 77 relevant treaty articles for P6-I5 — and the mapper rejected every single one for proving the “wrong” answer to the indicator question.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172200" y="1600200"/>
            <a:ext cx="5440680" cy="3566160"/>
          </a:xfrm>
          <a:prstGeom prst="roundRect">
            <a:avLst>
              <a:gd name="adj" fmla="val 2051"/>
            </a:avLst>
          </a:prstGeom>
          <a:solidFill>
            <a:srgbClr val="EDF8F4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0" y="18288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57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BREAKTHROUGH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92240" y="2240280"/>
            <a:ext cx="4800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Polarity is rubric DATA, not prompt folklore: absence-scored indicators carry an evidence rule that tells the mapper the row documents what EXISTS while the score captures absence. One YAML block fixed all 77; a regression test pins the behaviour forever.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539496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EDF5FC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54406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454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RECEIPT   </a:t>
            </a: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 is one commit touching only configs/rdtii/pillar_6.yaml; the very next run produced CPTPP Art. 14.11 and DEPA Art. 4.3 as NEW rows.</a:t>
            </a:r>
            <a:endParaRPr lang="en-US" sz="1150" dirty="0"/>
          </a:p>
        </p:txBody>
      </p:sp>
      <p:pic>
        <p:nvPicPr>
          <p:cNvPr id="12" name="Picture 11" descr="escap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117" y="146304"/>
            <a:ext cx="995148" cy="310896"/>
          </a:xfrm>
          <a:prstGeom prst="rect">
            <a:avLst/>
          </a:prstGeom>
        </p:spPr>
      </p:pic>
      <p:pic>
        <p:nvPicPr>
          <p:cNvPr id="13" name="Picture 12" descr="cc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77856" y="173736"/>
            <a:ext cx="1412977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C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6 OF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2A47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The half-quoted law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40680" cy="3566160"/>
          </a:xfrm>
          <a:prstGeom prst="roundRect">
            <a:avLst>
              <a:gd name="adj" fmla="val 2051"/>
            </a:avLst>
          </a:prstGeom>
          <a:solidFill>
            <a:srgbClr val="FBEFEC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8288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B0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WALL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240280"/>
            <a:ext cx="4800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early export ended a quotation at “…may be issued with an or” — a truncated word. Another stopped at a list-introducing colon, quoting a rule while omitting every one of its conditions. A lawyer reading either would stop trusting everything else.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172200" y="1600200"/>
            <a:ext cx="5440680" cy="3566160"/>
          </a:xfrm>
          <a:prstGeom prst="roundRect">
            <a:avLst>
              <a:gd name="adj" fmla="val 2051"/>
            </a:avLst>
          </a:prstGeom>
          <a:solidFill>
            <a:srgbClr val="EDF8F4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0" y="18288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57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BREAKTHROUGH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92240" y="2240280"/>
            <a:ext cx="4800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Snippets are finalized source-exact and structurally closed BEFORE any gate runs: closure follows list children to a genuine sentence stop, legal abbreviations (“s.”, “No.”) never count as endings, and a passage whose closure cannot be proven cannot be exported at all.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539496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EDF5FC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54406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454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RECEIPT   </a:t>
            </a: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G9 structural-closure gate records closure codes on every row; unclosable spans fail closed and go to human review instead of the output file.</a:t>
            </a:r>
            <a:endParaRPr lang="en-US" sz="1150" dirty="0"/>
          </a:p>
        </p:txBody>
      </p:sp>
      <p:pic>
        <p:nvPicPr>
          <p:cNvPr id="12" name="Picture 11" descr="escap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117" y="146304"/>
            <a:ext cx="995148" cy="310896"/>
          </a:xfrm>
          <a:prstGeom prst="rect">
            <a:avLst/>
          </a:prstGeom>
        </p:spPr>
      </p:pic>
      <p:pic>
        <p:nvPicPr>
          <p:cNvPr id="13" name="Picture 12" descr="cc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77856" y="173736"/>
            <a:ext cx="1412977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2A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dark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822960" y="210312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 STORY · CHAPTER TWO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822960" y="260604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Proof, not promises.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822960" y="4114800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system anyone can open today — read-only demo access is printed on the login page. These are unedited screenshots.</a:t>
            </a:r>
            <a:endParaRPr lang="en-US" sz="1800" dirty="0"/>
          </a:p>
        </p:txBody>
      </p:sp>
      <p:sp>
        <p:nvSpPr>
          <p:cNvPr id="6" name="Rounded Rectangle 5"/>
          <p:cNvSpPr/>
          <p:nvPr/>
        </p:nvSpPr>
        <p:spPr>
          <a:xfrm>
            <a:off x="9290101" y="73152"/>
            <a:ext cx="2828747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escap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117" y="146304"/>
            <a:ext cx="995148" cy="310896"/>
          </a:xfrm>
          <a:prstGeom prst="rect">
            <a:avLst/>
          </a:prstGeom>
        </p:spPr>
      </p:pic>
      <p:pic>
        <p:nvPicPr>
          <p:cNvPr id="8" name="Picture 7" descr="cc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77856" y="173736"/>
            <a:ext cx="1412977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C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· COMMAND CENTRE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2A47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The system refuses to flatter itself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93776" y="1426464"/>
            <a:ext cx="8339328" cy="5102352"/>
          </a:xfrm>
          <a:prstGeom prst="roundRect">
            <a:avLst>
              <a:gd name="adj" fmla="val 1075"/>
            </a:avLst>
          </a:prstGeom>
          <a:solidFill>
            <a:srgbClr val="E3EBF3"/>
          </a:solidFill>
          <a:ln/>
        </p:spPr>
      </p:sp>
      <p:pic>
        <p:nvPicPr>
          <p:cNvPr id="5" name="Image 0" descr="/private/tmp/claude-501/-Users-nafew-Documents-Web-Projects-ClauseChain/00809bd9-8f8d-442e-95ce-81f2f310946c/scratchpad/shots/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81328"/>
            <a:ext cx="8229600" cy="4992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006840" y="1481328"/>
            <a:ext cx="26060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dashboard’s champion gate reads FAIL until every human obligation is met.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9006840" y="3017520"/>
            <a:ext cx="26060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snapshot hash on every screen — the app is a mirror of engine artifacts, never its own truth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queue progress across NEW / absence / recall / zone-3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simulated KPIs anywhere — the banner says so</a:t>
            </a:r>
            <a:endParaRPr lang="en-US" sz="1050" dirty="0"/>
          </a:p>
        </p:txBody>
      </p:sp>
      <p:pic>
        <p:nvPicPr>
          <p:cNvPr id="8" name="Picture 7" descr="escap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117" y="146304"/>
            <a:ext cx="995148" cy="310896"/>
          </a:xfrm>
          <a:prstGeom prst="rect">
            <a:avLst/>
          </a:prstGeom>
        </p:spPr>
      </p:pic>
      <p:pic>
        <p:nvPicPr>
          <p:cNvPr id="9" name="Picture 8" descr="cc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77856" y="173736"/>
            <a:ext cx="1412977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C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· REVIEW WORKBENCH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2A47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Where a lawyer meets the evidence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93776" y="1426464"/>
            <a:ext cx="8339328" cy="5102352"/>
          </a:xfrm>
          <a:prstGeom prst="roundRect">
            <a:avLst>
              <a:gd name="adj" fmla="val 1075"/>
            </a:avLst>
          </a:prstGeom>
          <a:solidFill>
            <a:srgbClr val="E3EBF3"/>
          </a:solidFill>
          <a:ln/>
        </p:spPr>
      </p:sp>
      <p:pic>
        <p:nvPicPr>
          <p:cNvPr id="5" name="Image 0" descr="/private/tmp/claude-501/-Users-nafew-Documents-Web-Projects-ClauseChain/00809bd9-8f8d-442e-95ce-81f2f310946c/scratchpad/shots/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81328"/>
            <a:ext cx="8229600" cy="4992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006840" y="1481328"/>
            <a:ext cx="26060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finding: exact source quote, mapping analysis, refuter verdict, staged sign-off.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9006840" y="3017520"/>
            <a:ext cx="26060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Verbatim span highlighted from the archived official copy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Refuter chips (RECOMMEND-KEEP / SPLIT-REVIEW) triage attention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Treaty rows N003/N004 — the first 6.5 evidence — sit in the same queue as everything else</a:t>
            </a:r>
            <a:endParaRPr lang="en-US" sz="1050" dirty="0"/>
          </a:p>
        </p:txBody>
      </p:sp>
      <p:pic>
        <p:nvPicPr>
          <p:cNvPr id="8" name="Picture 7" descr="escap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117" y="146304"/>
            <a:ext cx="995148" cy="310896"/>
          </a:xfrm>
          <a:prstGeom prst="rect">
            <a:avLst/>
          </a:prstGeom>
        </p:spPr>
      </p:pic>
      <p:pic>
        <p:nvPicPr>
          <p:cNvPr id="9" name="Picture 8" descr="cc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77856" y="173736"/>
            <a:ext cx="1412977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C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· RUN HISTORY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2A47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Every run is an accountable record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93776" y="1426464"/>
            <a:ext cx="8339328" cy="5102352"/>
          </a:xfrm>
          <a:prstGeom prst="roundRect">
            <a:avLst>
              <a:gd name="adj" fmla="val 1075"/>
            </a:avLst>
          </a:prstGeom>
          <a:solidFill>
            <a:srgbClr val="E3EBF3"/>
          </a:solidFill>
          <a:ln/>
        </p:spPr>
      </p:sp>
      <p:pic>
        <p:nvPicPr>
          <p:cNvPr id="5" name="Image 0" descr="/private/tmp/claude-501/-Users-nafew-Documents-Web-Projects-ClauseChain/00809bd9-8f8d-442e-95ce-81f2f310946c/scratchpad/shots/ru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81328"/>
            <a:ext cx="8229600" cy="4992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006840" y="1481328"/>
            <a:ext cx="26060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envelopes: measured cost, elapsed time, model route, warnings — per run.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9006840" y="3017520"/>
            <a:ext cx="26060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$0.08–$0.34 per economy-pillar, printed with the model route that produced it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Warnings are first-class (“Full warnings (51)”), not buried in logs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hash on each envelope ties the UI to the artifact</a:t>
            </a:r>
            <a:endParaRPr lang="en-US" sz="1050" dirty="0"/>
          </a:p>
        </p:txBody>
      </p:sp>
      <p:pic>
        <p:nvPicPr>
          <p:cNvPr id="8" name="Picture 7" descr="escap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117" y="146304"/>
            <a:ext cx="995148" cy="310896"/>
          </a:xfrm>
          <a:prstGeom prst="rect">
            <a:avLst/>
          </a:prstGeom>
        </p:spPr>
      </p:pic>
      <p:pic>
        <p:nvPicPr>
          <p:cNvPr id="9" name="Picture 8" descr="cc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77856" y="173736"/>
            <a:ext cx="1412977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C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· PIPELINE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2A47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Watching the evidence arrive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93776" y="1426464"/>
            <a:ext cx="8339328" cy="5102352"/>
          </a:xfrm>
          <a:prstGeom prst="roundRect">
            <a:avLst>
              <a:gd name="adj" fmla="val 1075"/>
            </a:avLst>
          </a:prstGeom>
          <a:solidFill>
            <a:srgbClr val="E3EBF3"/>
          </a:solidFill>
          <a:ln/>
        </p:spPr>
      </p:sp>
      <p:pic>
        <p:nvPicPr>
          <p:cNvPr id="5" name="Image 0" descr="/private/tmp/claude-501/-Users-nafew-Documents-Web-Projects-ClauseChain/00809bd9-8f8d-442e-95ce-81f2f310946c/scratchpad/shots/pipeline-craw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81328"/>
            <a:ext cx="8229600" cy="4992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006840" y="1481328"/>
            <a:ext cx="26060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acquisition with archive hashes, reconciliation and failure honesty.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9006840" y="3017520"/>
            <a:ext cx="26060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source: official URL, SHA-256, access date, status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links stay visible — they feed the audit, not the void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screen a judge would use to trace any citation back</a:t>
            </a:r>
            <a:endParaRPr lang="en-US" sz="1050" dirty="0"/>
          </a:p>
        </p:txBody>
      </p:sp>
      <p:pic>
        <p:nvPicPr>
          <p:cNvPr id="8" name="Picture 7" descr="escap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117" y="146304"/>
            <a:ext cx="995148" cy="310896"/>
          </a:xfrm>
          <a:prstGeom prst="rect">
            <a:avLst/>
          </a:prstGeom>
        </p:spPr>
      </p:pic>
      <p:pic>
        <p:nvPicPr>
          <p:cNvPr id="9" name="Picture 8" descr="cc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77856" y="173736"/>
            <a:ext cx="1412977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C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· SUBMISSION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2A47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The output file, with its receipts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93776" y="1426464"/>
            <a:ext cx="8339328" cy="5102352"/>
          </a:xfrm>
          <a:prstGeom prst="roundRect">
            <a:avLst>
              <a:gd name="adj" fmla="val 1075"/>
            </a:avLst>
          </a:prstGeom>
          <a:solidFill>
            <a:srgbClr val="E3EBF3"/>
          </a:solidFill>
          <a:ln/>
        </p:spPr>
      </p:sp>
      <p:pic>
        <p:nvPicPr>
          <p:cNvPr id="5" name="Image 0" descr="/private/tmp/claude-501/-Users-nafew-Documents-Web-Projects-ClauseChain/00809bd9-8f8d-442e-95ce-81f2f310946c/scratchpad/shots/submis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81328"/>
            <a:ext cx="8229600" cy="4992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006840" y="1481328"/>
            <a:ext cx="26060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consolidated dataset beside the decision bundles that produced it.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9006840" y="3017520"/>
            <a:ext cx="26060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Template-exact columns, one consolidated CSV/JSON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Content-hashed review bundles — append-only history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 regenerates identical bytes from approvals alone</a:t>
            </a:r>
            <a:endParaRPr lang="en-US" sz="1050" dirty="0"/>
          </a:p>
        </p:txBody>
      </p:sp>
      <p:pic>
        <p:nvPicPr>
          <p:cNvPr id="8" name="Picture 7" descr="escap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117" y="146304"/>
            <a:ext cx="995148" cy="310896"/>
          </a:xfrm>
          <a:prstGeom prst="rect">
            <a:avLst/>
          </a:prstGeom>
        </p:spPr>
      </p:pic>
      <p:pic>
        <p:nvPicPr>
          <p:cNvPr id="9" name="Picture 8" descr="cc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77856" y="173736"/>
            <a:ext cx="1412977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C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· KNOWLEDGE GRAPH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2A47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The law as a graph, not a pile of text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93776" y="1426464"/>
            <a:ext cx="8339328" cy="5102352"/>
          </a:xfrm>
          <a:prstGeom prst="roundRect">
            <a:avLst>
              <a:gd name="adj" fmla="val 1075"/>
            </a:avLst>
          </a:prstGeom>
          <a:solidFill>
            <a:srgbClr val="E3EBF3"/>
          </a:solidFill>
          <a:ln/>
        </p:spPr>
      </p:sp>
      <p:pic>
        <p:nvPicPr>
          <p:cNvPr id="5" name="Image 0" descr="/private/tmp/claude-501/-Users-nafew-Documents-Web-Projects-ClauseChain/00809bd9-8f8d-442e-95ce-81f2f310946c/scratchpad/shots/knowledge-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81328"/>
            <a:ext cx="8229600" cy="4992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006840" y="1481328"/>
            <a:ext cx="26060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→ Section → Provision with cross-references — browsable.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9006840" y="3017520"/>
            <a:ext cx="26060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CROSS_REFERENCES edges follow “subject to s. 26” chains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default; Neo4j swap via one env var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node carries legal status + eligibility + source hash</a:t>
            </a:r>
            <a:endParaRPr lang="en-US" sz="1050" dirty="0"/>
          </a:p>
        </p:txBody>
      </p:sp>
      <p:pic>
        <p:nvPicPr>
          <p:cNvPr id="8" name="Picture 7" descr="escap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117" y="146304"/>
            <a:ext cx="995148" cy="310896"/>
          </a:xfrm>
          <a:prstGeom prst="rect">
            <a:avLst/>
          </a:prstGeom>
        </p:spPr>
      </p:pic>
      <p:pic>
        <p:nvPicPr>
          <p:cNvPr id="9" name="Picture 8" descr="cc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77856" y="173736"/>
            <a:ext cx="1412977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C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WINS ON TRUST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2A47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Innovation &amp; Competitive Advantage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40680" cy="1572768"/>
          </a:xfrm>
          <a:prstGeom prst="roundRect">
            <a:avLst>
              <a:gd name="adj" fmla="val 4651"/>
            </a:avLst>
          </a:prstGeom>
          <a:solidFill>
            <a:srgbClr val="EDF5FC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572768"/>
            <a:ext cx="4983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54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Treaty-evidenced 6.5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1920240"/>
            <a:ext cx="4983480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8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P6-I5 rows cite the actual binding commitments (CPTPP Art. 14.11, DEPA Art. 4.3, RCEP Art. 12.15) parsed from official state registers through the same generic pipeline — no hand-curated rows anywhere.</a:t>
            </a:r>
            <a:endParaRPr lang="en-US" sz="1080" dirty="0"/>
          </a:p>
        </p:txBody>
      </p:sp>
      <p:sp>
        <p:nvSpPr>
          <p:cNvPr id="7" name="Shape 5"/>
          <p:cNvSpPr/>
          <p:nvPr/>
        </p:nvSpPr>
        <p:spPr>
          <a:xfrm>
            <a:off x="6172200" y="1463040"/>
            <a:ext cx="5440680" cy="1572768"/>
          </a:xfrm>
          <a:prstGeom prst="roundRect">
            <a:avLst>
              <a:gd name="adj" fmla="val 4651"/>
            </a:avLst>
          </a:prstGeom>
          <a:solidFill>
            <a:srgbClr val="FDF6E9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0" y="1572768"/>
            <a:ext cx="4983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27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audit the gold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0" y="1920240"/>
            <a:ext cx="4983480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8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 re-verifies the provided master data and caught its planted Malaysia errors — including citations to clauses that do not exist — filing corrections with evidence.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548640" y="3182112"/>
            <a:ext cx="5440680" cy="1572768"/>
          </a:xfrm>
          <a:prstGeom prst="roundRect">
            <a:avLst>
              <a:gd name="adj" fmla="val 4651"/>
            </a:avLst>
          </a:prstGeom>
          <a:solidFill>
            <a:srgbClr val="EDF5FC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291840"/>
            <a:ext cx="4983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54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is proven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77240" y="3639312"/>
            <a:ext cx="4983480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8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Score-0 claims carry a search-coverage manifest; unresolved acquisitions (e.g. a geo-blocked treaty register) BLOCK the absence conclusion instead of faking it.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6172200" y="3182112"/>
            <a:ext cx="5440680" cy="1572768"/>
          </a:xfrm>
          <a:prstGeom prst="roundRect">
            <a:avLst>
              <a:gd name="adj" fmla="val 4651"/>
            </a:avLst>
          </a:prstGeom>
          <a:solidFill>
            <a:srgbClr val="EDF5FC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0" y="3291840"/>
            <a:ext cx="4983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54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 is modelled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0" y="3639312"/>
            <a:ext cx="4983480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8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Zone-3 scores ship a multi-persona noise audit (Krippendorff’s α) and a master-gold tripwire — a band with receipts, never a bare number.</a:t>
            </a:r>
            <a:endParaRPr lang="en-US" sz="1080" dirty="0"/>
          </a:p>
        </p:txBody>
      </p:sp>
      <p:sp>
        <p:nvSpPr>
          <p:cNvPr id="16" name="Shape 14"/>
          <p:cNvSpPr/>
          <p:nvPr/>
        </p:nvSpPr>
        <p:spPr>
          <a:xfrm>
            <a:off x="548640" y="4901184"/>
            <a:ext cx="5440680" cy="1572768"/>
          </a:xfrm>
          <a:prstGeom prst="roundRect">
            <a:avLst>
              <a:gd name="adj" fmla="val 4651"/>
            </a:avLst>
          </a:prstGeom>
          <a:solidFill>
            <a:srgbClr val="EDF5FC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5010912"/>
            <a:ext cx="4983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54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Human-authoritative by design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77240" y="5358384"/>
            <a:ext cx="4983480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8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 reviewer ≠ mapping reviewer, enforced at write time; append-only receipts; the submission is replayable from decisions alone.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6172200" y="4901184"/>
            <a:ext cx="5440680" cy="1572768"/>
          </a:xfrm>
          <a:prstGeom prst="roundRect">
            <a:avLst>
              <a:gd name="adj" fmla="val 4651"/>
            </a:avLst>
          </a:prstGeom>
          <a:solidFill>
            <a:srgbClr val="EDF5FC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0" y="5010912"/>
            <a:ext cx="4983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54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to the core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0" y="5358384"/>
            <a:ext cx="4983480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8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in code names a statute or a row: targets live in seeds/YAML data. The rerun that added treaties, Malay grammar and subsidiary legislation changed configuration, not engine logic.</a:t>
            </a:r>
            <a:endParaRPr lang="en-US" sz="1080" dirty="0"/>
          </a:p>
        </p:txBody>
      </p:sp>
      <p:pic>
        <p:nvPicPr>
          <p:cNvPr id="22" name="Picture 21" descr="escap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117" y="146304"/>
            <a:ext cx="995148" cy="310896"/>
          </a:xfrm>
          <a:prstGeom prst="rect">
            <a:avLst/>
          </a:prstGeom>
        </p:spPr>
      </p:pic>
      <p:pic>
        <p:nvPicPr>
          <p:cNvPr id="23" name="Picture 22" descr="cc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77856" y="173736"/>
            <a:ext cx="1412977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C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FINALS QUESTION, ANSWERED CONCRETELY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2A47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Adding an Economy Is a Data Change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989320" cy="4846320"/>
          </a:xfrm>
          <a:prstGeom prst="roundRect">
            <a:avLst>
              <a:gd name="adj" fmla="val 1509"/>
            </a:avLst>
          </a:prstGeom>
          <a:solidFill>
            <a:srgbClr val="10253E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0020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configs/jurisdictions/th.yaml  (all it takes)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1965960"/>
            <a:ext cx="54406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D9E6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jurisdiction: TH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D9E6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source_format: pdf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D9E6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languages: { primary: th, supported: [th, en] }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D9E6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section_grammars: [thai]          # "มาตรา N" — named profile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D9E6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official_sources: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D9E6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{ domain: ratchakitcha.soc.go.th,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D9E6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source_type: official_gazette }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D9E6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citation_patterns: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D9E6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section: ["s. {n}", "มาตรา {n}"]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D9E6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status_assertions: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D9E6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"PDPA B.E. 2562": { status: in_force, fact_url: "…" }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D9E6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+ seed rows in data/seeds.json  (official URLs)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D9E6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+ nothing else. No code.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720840" y="1417320"/>
            <a:ext cx="4892040" cy="4846320"/>
          </a:xfrm>
          <a:prstGeom prst="roundRect">
            <a:avLst>
              <a:gd name="adj" fmla="val 1509"/>
            </a:avLst>
          </a:prstGeom>
          <a:solidFill>
            <a:srgbClr val="EDF5FC"/>
          </a:solidFill>
          <a:ln/>
        </p:spPr>
      </p:sp>
      <p:sp>
        <p:nvSpPr>
          <p:cNvPr id="8" name="Text 6"/>
          <p:cNvSpPr/>
          <p:nvPr/>
        </p:nvSpPr>
        <p:spPr>
          <a:xfrm>
            <a:off x="6995160" y="160020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SCALES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95160" y="1965960"/>
            <a:ext cx="43891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Extractors are format-based (HTML / PDF / EPUB / OCR), never country-based — a new economy reuses them untouched.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grammars are named data profiles: treaty and Malay shipped this round; "Pasal", "Статья", "มาตรา" are one dictionary entry each.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Rubric YAML is economy-independent — pillars are added the same way (P8 = one new YAML, zero engine changes).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Cross-lingual retrieval (BGE-M3) + original-language verbatim + English column are already wired.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Proof: this round, treaties + subsidiary legislation + Malay grammar were added mid-sprint as configuration — the engine diff was generic plumbing only.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government-verified Round-2 gold (CN·IN·ID·LA·MN·RU·TH) is already ingested as the 8-economy eval baseline.</a:t>
            </a:r>
            <a:endParaRPr lang="en-US" sz="1100" dirty="0"/>
          </a:p>
        </p:txBody>
      </p:sp>
      <p:pic>
        <p:nvPicPr>
          <p:cNvPr id="10" name="Picture 9" descr="escap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117" y="146304"/>
            <a:ext cx="995148" cy="310896"/>
          </a:xfrm>
          <a:prstGeom prst="rect">
            <a:avLst/>
          </a:prstGeom>
        </p:spPr>
      </p:pic>
      <p:pic>
        <p:nvPicPr>
          <p:cNvPr id="11" name="Picture 10" descr="cc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77856" y="173736"/>
            <a:ext cx="1412977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C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3 ECONOMIES TO THE REGION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2A47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Scalability &amp; Future Development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86400" cy="4800600"/>
          </a:xfrm>
          <a:prstGeom prst="roundRect">
            <a:avLst>
              <a:gd name="adj" fmla="val 1524"/>
            </a:avLst>
          </a:prstGeom>
          <a:solidFill>
            <a:srgbClr val="EDF5F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0020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PATH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1965960"/>
            <a:ext cx="493776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economy = data, not code: a jurisdiction YAML (portals, citation grammar, status assertions) + seed rows. Extractors are format-based; grammars are named profiles ("Pasal", "Статья", "มาตรา" next).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Finals-ready gold: the government-verified Round-2 database (CN·IN·ID·LA·MN·RU·TH) is already ingested as the evaluation baseline for the 8-economy expansion.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by architecture: BGE-M3 cross-lingual retrieval, original-language verbatim + appended English column, per-language section grammars.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monitoring: incremental fingerprints mean a nightly run re-extracts only changed documents — amendment tracking falls out of the cache design.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309360" y="1417320"/>
            <a:ext cx="5303520" cy="4800600"/>
          </a:xfrm>
          <a:prstGeom prst="roundRect">
            <a:avLst>
              <a:gd name="adj" fmla="val 1524"/>
            </a:avLst>
          </a:prstGeom>
          <a:solidFill>
            <a:srgbClr val="F3FBF9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0" y="16002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FOR ESCAP &amp; STAKEHOLDERS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0" y="1965960"/>
            <a:ext cx="475488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ESCAP researchers — RDTII updates in hours instead of months, with every cell traceable to an archived official source.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Governments — see exactly which provision produced each score; corrections become data changes with receipts.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Businesses &amp; trade lawyers — pinpoint, current, verifiable answers on cross-border data rules across jurisdictions.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outcomes — faster policy insight, fewer stale citations, lower compliance-research burden, and a reusable evidence commons for digital-trade regulation.</a:t>
            </a:r>
            <a:endParaRPr lang="en-US" sz="1150" dirty="0"/>
          </a:p>
        </p:txBody>
      </p:sp>
      <p:pic>
        <p:nvPicPr>
          <p:cNvPr id="10" name="Picture 9" descr="escap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117" y="146304"/>
            <a:ext cx="995148" cy="310896"/>
          </a:xfrm>
          <a:prstGeom prst="rect">
            <a:avLst/>
          </a:prstGeom>
        </p:spPr>
      </p:pic>
      <p:pic>
        <p:nvPicPr>
          <p:cNvPr id="11" name="Picture 10" descr="cc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77856" y="173736"/>
            <a:ext cx="1412977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2A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dark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CHAMPIONSHIP CASE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Why ClauseChain should win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593592" cy="4251960"/>
          </a:xfrm>
          <a:prstGeom prst="roundRect">
            <a:avLst>
              <a:gd name="adj" fmla="val 2036"/>
            </a:avLst>
          </a:prstGeom>
          <a:solidFill>
            <a:srgbClr val="16395C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92024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SUBSTANTIVE ACCURACY · 40%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286000"/>
            <a:ext cx="315468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 provision-level NEW findings beyond the sample kit — the 20-point lever, systematically harvested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treaty-evidenced P6-I5 rows (CPTPP 14.11, DEPA 4.3, RCEP 12.15) from official registers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Byte-exact citations a lawyer verifies in seconds; polarity traps encoded as rubric data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audited the gold itself and caught the planted Malaysia errors — with receipts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416552" y="1737360"/>
            <a:ext cx="3593592" cy="4251960"/>
          </a:xfrm>
          <a:prstGeom prst="roundRect">
            <a:avLst>
              <a:gd name="adj" fmla="val 2036"/>
            </a:avLst>
          </a:prstGeom>
          <a:solidFill>
            <a:srgbClr val="16395C"/>
          </a:solidFill>
          <a:ln/>
        </p:spPr>
      </p:sp>
      <p:sp>
        <p:nvSpPr>
          <p:cNvPr id="8" name="Text 6"/>
          <p:cNvSpPr/>
          <p:nvPr/>
        </p:nvSpPr>
        <p:spPr>
          <a:xfrm>
            <a:off x="4645152" y="192024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RESILIENCE · 30%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645152" y="2286000"/>
            <a:ext cx="315468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portals with anti-bot walls beaten (backoff + real-browser fallback); failures recorded, never faked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Scanned gazettes: OCR with per-page confidence + statutory glyph repair; bilingual Malay grammar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with zero manual steps — and a web console that triggers the same engine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fingerprints: nightly re-runs re-extract only changed law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93024" y="1737360"/>
            <a:ext cx="3593592" cy="4251960"/>
          </a:xfrm>
          <a:prstGeom prst="roundRect">
            <a:avLst>
              <a:gd name="adj" fmla="val 2036"/>
            </a:avLst>
          </a:prstGeom>
          <a:solidFill>
            <a:srgbClr val="16395C"/>
          </a:solidFill>
          <a:ln/>
        </p:spPr>
      </p:sp>
      <p:sp>
        <p:nvSpPr>
          <p:cNvPr id="11" name="Text 9"/>
          <p:cNvSpPr/>
          <p:nvPr/>
        </p:nvSpPr>
        <p:spPr>
          <a:xfrm>
            <a:off x="8421624" y="192024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· 30%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421624" y="2286000"/>
            <a:ext cx="315468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LLM / OCR / graph by config — two shipped profiles, incl. a fully key-free local path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 beyond the ask: verbatim snippet + archived source + SHA-256 + gate results + named review + replay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cost: US$1.16 for the entire 3-economy sweep (≈ $0.01 per document)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an economy or pillar = one YAML + seed rows; finals gold already ingested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617220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is the product: every row the judges check will check out.</a:t>
            </a:r>
            <a:endParaRPr lang="en-US" sz="1600" dirty="0"/>
          </a:p>
        </p:txBody>
      </p:sp>
      <p:sp>
        <p:nvSpPr>
          <p:cNvPr id="15" name="Rounded Rectangle 14"/>
          <p:cNvSpPr/>
          <p:nvPr/>
        </p:nvSpPr>
        <p:spPr>
          <a:xfrm>
            <a:off x="9290101" y="73152"/>
            <a:ext cx="2828747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escap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117" y="146304"/>
            <a:ext cx="995148" cy="310896"/>
          </a:xfrm>
          <a:prstGeom prst="rect">
            <a:avLst/>
          </a:prstGeom>
        </p:spPr>
      </p:pic>
      <p:pic>
        <p:nvPicPr>
          <p:cNvPr id="17" name="Picture 16" descr="cc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77856" y="173736"/>
            <a:ext cx="1412977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2A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dark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640080" y="5029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Sources, models &amp; libraries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593592" cy="4480560"/>
          </a:xfrm>
          <a:prstGeom prst="roundRect">
            <a:avLst>
              <a:gd name="adj" fmla="val 2036"/>
            </a:avLst>
          </a:prstGeom>
          <a:solidFill>
            <a:srgbClr val="16395C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96596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DATA SOURCES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2331720"/>
            <a:ext cx="315468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RDTII 2.1 Guide, methodology sheet &amp; Round-1/Round-2 databases (UN ESCAP)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Singapore Statutes Online — sso.agc.gov.sg (Acts + subsidiary legislation print view)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Laws of Malaysia (AGC), Federal Gazette, PDP Department, NACSA, MITI FTA portal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Federal Register of Legislation — legislation.gov.au (authorised PDF + EPUB)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treaty texts: CPTPP, RCEP, DEPA, SADEA, KSDPA (state registers)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416552" y="1783080"/>
            <a:ext cx="3593592" cy="4480560"/>
          </a:xfrm>
          <a:prstGeom prst="roundRect">
            <a:avLst>
              <a:gd name="adj" fmla="val 2036"/>
            </a:avLst>
          </a:prstGeom>
          <a:solidFill>
            <a:srgbClr val="16395C"/>
          </a:solidFill>
          <a:ln/>
        </p:spPr>
      </p:sp>
      <p:sp>
        <p:nvSpPr>
          <p:cNvPr id="8" name="Text 6"/>
          <p:cNvSpPr/>
          <p:nvPr/>
        </p:nvSpPr>
        <p:spPr>
          <a:xfrm>
            <a:off x="4645152" y="196596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&amp; METHODS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45152" y="2331720"/>
            <a:ext cx="315468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 nano/mini tiers via API (operator key) · local Ollama fallback profile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multilingual embeddings (MIT)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Noise-audit uncertainty design after Qian Xiao (Maynooth), 12 Jun workshop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corpus interaction / broad-recall motivation: Li et al., arXiv:2605.05242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GraphRAG legal schema after Chawuthai (KMITL), 12 Jun workshop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193024" y="1783080"/>
            <a:ext cx="3593592" cy="4480560"/>
          </a:xfrm>
          <a:prstGeom prst="roundRect">
            <a:avLst>
              <a:gd name="adj" fmla="val 2036"/>
            </a:avLst>
          </a:prstGeom>
          <a:solidFill>
            <a:srgbClr val="16395C"/>
          </a:solidFill>
          <a:ln/>
        </p:spPr>
      </p:sp>
      <p:sp>
        <p:nvSpPr>
          <p:cNvPr id="11" name="Text 9"/>
          <p:cNvSpPr/>
          <p:nvPr/>
        </p:nvSpPr>
        <p:spPr>
          <a:xfrm>
            <a:off x="8421624" y="196596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LIBRARIES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421624" y="2331720"/>
            <a:ext cx="315468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httpx · pydantic · numpy · pymupdf · pytest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SQLite/FTS5 · Neo4j Community (optional)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· DRF · Next.js · React · PostgreSQL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 (anti-bot fallback) · systemd/nginx deployment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licence inventory in the repository README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E9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ClauseChain · Team zAI BD · UN ESCAP RegTech AI Hackathon 2026</a:t>
            </a:r>
            <a:endParaRPr lang="en-US" sz="1100" dirty="0"/>
          </a:p>
        </p:txBody>
      </p:sp>
      <p:sp>
        <p:nvSpPr>
          <p:cNvPr id="15" name="Rounded Rectangle 14"/>
          <p:cNvSpPr/>
          <p:nvPr/>
        </p:nvSpPr>
        <p:spPr>
          <a:xfrm>
            <a:off x="9290101" y="73152"/>
            <a:ext cx="2828747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escap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117" y="146304"/>
            <a:ext cx="995148" cy="310896"/>
          </a:xfrm>
          <a:prstGeom prst="rect">
            <a:avLst/>
          </a:prstGeom>
        </p:spPr>
      </p:pic>
      <p:pic>
        <p:nvPicPr>
          <p:cNvPr id="17" name="Picture 16" descr="cc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77856" y="173736"/>
            <a:ext cx="1412977" cy="2560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4116</Words>
  <Application>Microsoft Macintosh PowerPoint</Application>
  <PresentationFormat>Widescreen</PresentationFormat>
  <Paragraphs>325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4" baseType="lpstr">
      <vt:lpstr>Arial</vt:lpstr>
      <vt:lpstr>Calibri</vt:lpstr>
      <vt:lpstr>Courier New</vt:lpstr>
      <vt:lpstr>Titillium Web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ClauseChain — RegTech AI Hackathon (RDTII Pillars 6 &amp; 7)</dc:title>
  <dc:subject>PptxGenJS Presentation</dc:subject>
  <dc:creator>Team zAI BD</dc:creator>
  <cp:lastModifiedBy>Abu Naser Md. Nafew</cp:lastModifiedBy>
  <cp:revision>11</cp:revision>
  <dcterms:created xsi:type="dcterms:W3CDTF">2026-07-20T10:09:55Z</dcterms:created>
  <dcterms:modified xsi:type="dcterms:W3CDTF">2026-07-20T13:08:11Z</dcterms:modified>
</cp:coreProperties>
</file>